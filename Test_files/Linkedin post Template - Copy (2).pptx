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61" r:id="rId2"/>
    <p:sldId id="262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259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832" y="2091269"/>
            <a:ext cx="4965726" cy="480939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832" y="6900660"/>
            <a:ext cx="4965726" cy="1244273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2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FD288C-8219-FF72-3C52-FDC828D6161C}"/>
              </a:ext>
            </a:extLst>
          </p:cNvPr>
          <p:cNvCxnSpPr>
            <a:cxnSpLocks/>
          </p:cNvCxnSpPr>
          <p:nvPr userDrawn="1"/>
        </p:nvCxnSpPr>
        <p:spPr>
          <a:xfrm>
            <a:off x="6833871" y="31749"/>
            <a:ext cx="0" cy="984250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2ED628-4A40-9C1B-6E27-09FE6C8144AC}"/>
              </a:ext>
            </a:extLst>
          </p:cNvPr>
          <p:cNvCxnSpPr>
            <a:cxnSpLocks/>
          </p:cNvCxnSpPr>
          <p:nvPr userDrawn="1"/>
        </p:nvCxnSpPr>
        <p:spPr>
          <a:xfrm>
            <a:off x="0" y="22555"/>
            <a:ext cx="30479" cy="985169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E10F39-56D7-652E-2627-2A864C627081}"/>
              </a:ext>
            </a:extLst>
          </p:cNvPr>
          <p:cNvCxnSpPr>
            <a:cxnSpLocks/>
          </p:cNvCxnSpPr>
          <p:nvPr userDrawn="1"/>
        </p:nvCxnSpPr>
        <p:spPr>
          <a:xfrm>
            <a:off x="0" y="22555"/>
            <a:ext cx="682752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6ADB99-B5C2-57B2-7672-D32E5CAA547B}"/>
              </a:ext>
            </a:extLst>
          </p:cNvPr>
          <p:cNvCxnSpPr>
            <a:cxnSpLocks/>
          </p:cNvCxnSpPr>
          <p:nvPr userDrawn="1"/>
        </p:nvCxnSpPr>
        <p:spPr>
          <a:xfrm>
            <a:off x="34289" y="9874250"/>
            <a:ext cx="6799582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127D2C-14E0-948E-DF2A-D1672689DC0A}"/>
              </a:ext>
            </a:extLst>
          </p:cNvPr>
          <p:cNvGrpSpPr/>
          <p:nvPr userDrawn="1"/>
        </p:nvGrpSpPr>
        <p:grpSpPr>
          <a:xfrm>
            <a:off x="537287" y="9390052"/>
            <a:ext cx="6231641" cy="424056"/>
            <a:chOff x="537287" y="9390052"/>
            <a:chExt cx="6231641" cy="424056"/>
          </a:xfrm>
        </p:grpSpPr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68A397D9-9D94-DD9A-B9A0-2FB28413FE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37287" y="9390052"/>
              <a:ext cx="6231641" cy="424056"/>
            </a:xfrm>
            <a:prstGeom prst="rect">
              <a:avLst/>
            </a:prstGeom>
            <a:solidFill>
              <a:srgbClr val="002060"/>
            </a:solidFill>
            <a:ln w="50800">
              <a:solidFill>
                <a:schemeClr val="accent4">
                  <a:lumMod val="40000"/>
                  <a:lumOff val="60000"/>
                </a:schemeClr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457200" rtl="0" eaLnBrk="1" latinLnBrk="0" hangingPunct="1">
                <a:defRPr sz="1000" b="0" i="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44" b="1" dirty="0">
                  <a:ln w="0"/>
                  <a:solidFill>
                    <a:srgbClr val="FFFFF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Verdana" panose="020B0604030504040204" pitchFamily="34" charset="0"/>
                  <a:ea typeface="Verdana" panose="020B0604030504040204" pitchFamily="34" charset="0"/>
                </a:rPr>
                <a:t>@</a:t>
              </a:r>
              <a:r>
                <a:rPr lang="en-US" sz="1517" b="1" dirty="0">
                  <a:ln w="0"/>
                  <a:solidFill>
                    <a:srgbClr val="FFFFFF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Verdana" panose="020B0604030504040204" pitchFamily="34" charset="0"/>
                  <a:ea typeface="Verdana" panose="020B0604030504040204" pitchFamily="34" charset="0"/>
                  <a:cs typeface="Tahoma" panose="020B0604030504040204" pitchFamily="34" charset="0"/>
                </a:rPr>
                <a:t>ganeshdg</a:t>
              </a:r>
              <a:endParaRPr lang="en-IN" sz="1444" dirty="0"/>
            </a:p>
          </p:txBody>
        </p:sp>
        <p:pic>
          <p:nvPicPr>
            <p:cNvPr id="9" name="Picture 18" descr="Linkedin Icon Square transparent PNG - StickPNG">
              <a:extLst>
                <a:ext uri="{FF2B5EF4-FFF2-40B4-BE49-F238E27FC236}">
                  <a16:creationId xmlns:a16="http://schemas.microsoft.com/office/drawing/2014/main" id="{34DD2F52-EDFE-BF1A-A570-B9376C843F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1963" y="9426850"/>
              <a:ext cx="340820" cy="350459"/>
            </a:xfrm>
            <a:prstGeom prst="rect">
              <a:avLst/>
            </a:prstGeom>
            <a:noFill/>
            <a:ln w="3492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1EDD981-54BC-0227-079A-09EA09A4E7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93633" y="9407832"/>
              <a:ext cx="392451" cy="385505"/>
            </a:xfrm>
            <a:prstGeom prst="ellipse">
              <a:avLst/>
            </a:prstGeom>
            <a:ln w="34925" cap="rnd">
              <a:solidFill>
                <a:schemeClr val="tx1">
                  <a:lumMod val="75000"/>
                </a:schemeClr>
              </a:solidFill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3880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3" y="4133616"/>
            <a:ext cx="4965725" cy="276704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32" y="6900661"/>
            <a:ext cx="4965726" cy="12428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Linkedin:@</a:t>
            </a:r>
            <a:r>
              <a:rPr lang="en-US" sz="1517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ganeshdg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18" descr="Linkedin Icon Square transparent PNG - StickPNG">
            <a:extLst>
              <a:ext uri="{FF2B5EF4-FFF2-40B4-BE49-F238E27FC236}">
                <a16:creationId xmlns:a16="http://schemas.microsoft.com/office/drawing/2014/main" id="{76194AF6-7D73-047D-7456-32107F5B8C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778" y="9094395"/>
            <a:ext cx="163722" cy="420421"/>
          </a:xfrm>
          <a:prstGeom prst="rect">
            <a:avLst/>
          </a:prstGeom>
          <a:noFill/>
          <a:ln w="349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33737B-9068-72CC-0ECD-D0C45E5881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68772" y="8956643"/>
            <a:ext cx="238855" cy="6959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0483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0775" y="2976388"/>
            <a:ext cx="2473585" cy="6060547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1482" y="2969913"/>
            <a:ext cx="2473586" cy="606702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71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775" y="2751667"/>
            <a:ext cx="2473584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75" y="3632200"/>
            <a:ext cx="2473585" cy="540473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1482" y="2751667"/>
            <a:ext cx="2473585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1482" y="3632200"/>
            <a:ext cx="2473585" cy="540473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A12E284-9E84-DD63-1EAB-998F1E6300D7}"/>
              </a:ext>
            </a:extLst>
          </p:cNvPr>
          <p:cNvSpPr txBox="1">
            <a:spLocks/>
          </p:cNvSpPr>
          <p:nvPr userDrawn="1"/>
        </p:nvSpPr>
        <p:spPr>
          <a:xfrm>
            <a:off x="2895274" y="9040906"/>
            <a:ext cx="3984850" cy="527403"/>
          </a:xfrm>
          <a:prstGeom prst="rect">
            <a:avLst/>
          </a:prstGeom>
          <a:solidFill>
            <a:srgbClr val="002060"/>
          </a:solidFill>
        </p:spPr>
        <p:txBody>
          <a:bodyPr vert="horz" lIns="132080" tIns="66040" rIns="132080" bIns="6604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44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Linkedin:@</a:t>
            </a:r>
            <a:r>
              <a:rPr lang="en-US" sz="1517" b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ganeshdg</a:t>
            </a:r>
            <a:endParaRPr lang="en-IN" sz="1444" dirty="0"/>
          </a:p>
        </p:txBody>
      </p:sp>
      <p:pic>
        <p:nvPicPr>
          <p:cNvPr id="11" name="Picture 18" descr="Linkedin Icon Square transparent PNG - StickPNG">
            <a:extLst>
              <a:ext uri="{FF2B5EF4-FFF2-40B4-BE49-F238E27FC236}">
                <a16:creationId xmlns:a16="http://schemas.microsoft.com/office/drawing/2014/main" id="{A058D4CD-29ED-8D08-7C0D-4FCBEEC632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778" y="9094395"/>
            <a:ext cx="163722" cy="420421"/>
          </a:xfrm>
          <a:prstGeom prst="rect">
            <a:avLst/>
          </a:prstGeom>
          <a:noFill/>
          <a:ln w="349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70FFD8-1552-4AAF-1705-156BC766BE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68772" y="8956643"/>
            <a:ext cx="238855" cy="6959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7559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1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1" y="2091267"/>
            <a:ext cx="1913597" cy="2091267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2048" y="2091267"/>
            <a:ext cx="2923510" cy="6604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1" y="4520073"/>
            <a:ext cx="1913597" cy="418253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42" y="2678277"/>
            <a:ext cx="2865506" cy="2274723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10138" y="1651000"/>
            <a:ext cx="1800694" cy="660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1" y="5283200"/>
            <a:ext cx="2861046" cy="19812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89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3" y="6934181"/>
            <a:ext cx="4965725" cy="81862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832" y="990600"/>
            <a:ext cx="4965726" cy="525874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7752803"/>
            <a:ext cx="4965725" cy="71314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90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2" y="2091267"/>
            <a:ext cx="4965726" cy="286173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5283200"/>
            <a:ext cx="4965726" cy="3412067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9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057" y="2091267"/>
            <a:ext cx="4500787" cy="335598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086133" y="5447252"/>
            <a:ext cx="4095869" cy="49425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6284282"/>
            <a:ext cx="4965726" cy="2421467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505423" y="1402922"/>
            <a:ext cx="451193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9768" y="3775471"/>
            <a:ext cx="451193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750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1" y="4512735"/>
            <a:ext cx="4965727" cy="2387927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32" y="6900661"/>
            <a:ext cx="4965726" cy="12428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65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126" y="2861734"/>
            <a:ext cx="1658044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67106" y="3852334"/>
            <a:ext cx="1647063" cy="5184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5128" y="2861734"/>
            <a:ext cx="1652066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179190" y="3852334"/>
            <a:ext cx="1658003" cy="5184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08688" y="2861734"/>
            <a:ext cx="1649744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008688" y="3852334"/>
            <a:ext cx="1649744" cy="5184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096501" y="3081867"/>
            <a:ext cx="0" cy="572346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17273" y="3081867"/>
            <a:ext cx="0" cy="5729941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360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06" y="6140260"/>
            <a:ext cx="1654209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367106" y="3191934"/>
            <a:ext cx="1654209" cy="2201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367106" y="6972640"/>
            <a:ext cx="1654209" cy="9521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8344" y="6140260"/>
            <a:ext cx="1648850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188343" y="3191934"/>
            <a:ext cx="1648850" cy="2201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187582" y="6972639"/>
            <a:ext cx="1651034" cy="9521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08688" y="6140260"/>
            <a:ext cx="1649744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008687" y="3191934"/>
            <a:ext cx="1649744" cy="2201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008619" y="6972636"/>
            <a:ext cx="1651928" cy="9521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096501" y="3081867"/>
            <a:ext cx="0" cy="572346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917273" y="3081867"/>
            <a:ext cx="0" cy="5729941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955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650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72337" y="621421"/>
            <a:ext cx="986095" cy="841551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7106" y="1116852"/>
            <a:ext cx="4176609" cy="79200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06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4724574" y="2421467"/>
            <a:ext cx="2114550" cy="40724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267374" y="-660400"/>
            <a:ext cx="1200150" cy="2311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4724574" y="8805333"/>
            <a:ext cx="742950" cy="14308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15491" y="3852333"/>
            <a:ext cx="3143250" cy="60536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29841" y="4182533"/>
            <a:ext cx="1771650" cy="34120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5809233" y="0"/>
            <a:ext cx="514350" cy="1588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533" y="653926"/>
            <a:ext cx="5291535" cy="20229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775" y="2965337"/>
            <a:ext cx="5033741" cy="6060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277284" y="2720954"/>
            <a:ext cx="1430865" cy="1714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696D4F5-9DF8-4682-8980-BF81A8B0135A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334795" y="4793154"/>
            <a:ext cx="5575259" cy="171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824824" y="427175"/>
            <a:ext cx="471610" cy="11088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CCF84-D001-4C36-8A91-9C5F460C7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07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342905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80" indent="-257180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22" indent="-214316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65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70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76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82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87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93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98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5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1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7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3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9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35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0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46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3475-1C6A-B6FE-BE9D-2D8A5FE4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520"/>
            <a:ext cx="7180188" cy="819838"/>
          </a:xfrm>
        </p:spPr>
        <p:txBody>
          <a:bodyPr>
            <a:noAutofit/>
          </a:bodyPr>
          <a:lstStyle/>
          <a:p>
            <a:r>
              <a:rPr lang="en-US" sz="2400" b="1" i="1" u="sng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Basics of Data Engineering – Part 3</a:t>
            </a:r>
            <a:endParaRPr lang="en-IN" sz="2400" b="1" i="1" u="sng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3E32FE-5711-43A4-986B-811DE460AC77}"/>
              </a:ext>
            </a:extLst>
          </p:cNvPr>
          <p:cNvSpPr txBox="1">
            <a:spLocks/>
          </p:cNvSpPr>
          <p:nvPr/>
        </p:nvSpPr>
        <p:spPr>
          <a:xfrm>
            <a:off x="322214" y="913504"/>
            <a:ext cx="6213571" cy="9174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80" indent="-257180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22" indent="-214316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65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70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76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82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87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93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98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1800" b="1" u="sng" dirty="0">
                <a:latin typeface="Verdana" panose="020B0604030504040204" pitchFamily="34" charset="0"/>
                <a:ea typeface="Verdana" panose="020B0604030504040204" pitchFamily="34" charset="0"/>
              </a:rPr>
              <a:t>What is a Data Pipeline?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 data pipeline is like a well-organized system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of actions and tools that automatically gather,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change, and transport data from different places to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one central spot, usually a place where data can be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analyzed or used for making decisions. Usually this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involves moving a data from the Data generator to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 data consolidator.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Data pipelines are crucial for data management,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ensuring data is accessible, accurate, and timely.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02DDA3-FDD2-BBF3-84C4-6CFA331A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09" y="682004"/>
            <a:ext cx="6529179" cy="50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28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3475-1C6A-B6FE-BE9D-2D8A5FE4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80188" cy="819838"/>
          </a:xfrm>
        </p:spPr>
        <p:txBody>
          <a:bodyPr>
            <a:noAutofit/>
          </a:bodyPr>
          <a:lstStyle/>
          <a:p>
            <a:r>
              <a:rPr lang="en-US" sz="2400" b="1" i="1" u="sng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Basics of Data Engineering – Part 1</a:t>
            </a:r>
            <a:endParaRPr lang="en-IN" sz="2400" b="1" i="1" u="sng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3E32FE-5711-43A4-986B-811DE460AC77}"/>
              </a:ext>
            </a:extLst>
          </p:cNvPr>
          <p:cNvSpPr txBox="1">
            <a:spLocks/>
          </p:cNvSpPr>
          <p:nvPr/>
        </p:nvSpPr>
        <p:spPr>
          <a:xfrm>
            <a:off x="322214" y="409919"/>
            <a:ext cx="6213571" cy="9174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80" indent="-257180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22" indent="-214316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65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70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76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82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87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93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98" indent="-171453" algn="l" defTabSz="342905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800" b="1" u="sng" dirty="0">
                <a:latin typeface="Verdana" panose="020B0604030504040204" pitchFamily="34" charset="0"/>
                <a:ea typeface="Verdana" panose="020B0604030504040204" pitchFamily="34" charset="0"/>
              </a:rPr>
              <a:t>Key Considerations in creating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Data Quality: Understand the quality of what is right data and what is not.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Scalability: Ensuring the solution can handle increasing data volumes.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Security: Design pipelines based on sensitivity of data throughout the pipeline.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Monitoring and Logging: Based on requirements of real-time monitoring and detailed logging. </a:t>
            </a:r>
          </a:p>
          <a:p>
            <a:pPr marL="0" indent="0">
              <a:buFont typeface="Wingdings 3" charset="2"/>
              <a:buNone/>
            </a:pPr>
            <a:endParaRPr lang="en-US" sz="10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1800" b="1" u="sng" dirty="0">
                <a:latin typeface="Verdana" panose="020B0604030504040204" pitchFamily="34" charset="0"/>
                <a:ea typeface="Verdana" panose="020B0604030504040204" pitchFamily="34" charset="0"/>
              </a:rPr>
              <a:t>Few popular tools used in Pipeline creation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Apache Airflow – Creates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Talend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Apache Kafka- Streaming platform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AWS Glue- Amazons ERL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Google Cloud Dataflow- Google cloud offering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Microsoft Azure Data Factory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Informatica PowerCenter</a:t>
            </a:r>
          </a:p>
          <a:p>
            <a:pPr marL="0" indent="0">
              <a:buNone/>
            </a:pP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sz="1800" b="1" u="sng" dirty="0">
                <a:latin typeface="Verdana" panose="020B0604030504040204" pitchFamily="34" charset="0"/>
                <a:ea typeface="Verdana" panose="020B0604030504040204" pitchFamily="34" charset="0"/>
              </a:rPr>
              <a:t>Few best practices in creating Data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Implement Data Quality rules during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Check on Modular and Reusability consideration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Proper Documentation explaining features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Implement modes of Backup and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Monitor for Performance Tuning</a:t>
            </a: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Wingdings 3" charset="2"/>
              <a:buNone/>
            </a:pPr>
            <a:endParaRPr lang="en-US" sz="18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312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451</TotalTime>
  <Words>222</Words>
  <Application>Microsoft Office PowerPoint</Application>
  <PresentationFormat>A4 Paper (210x297 mm)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Verdana</vt:lpstr>
      <vt:lpstr>Wingdings 3</vt:lpstr>
      <vt:lpstr>Ion</vt:lpstr>
      <vt:lpstr>Basics of Data Engineering – Part 3</vt:lpstr>
      <vt:lpstr>Basics of Data Engineering – Part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10 Tools  for Data Engineers</dc:title>
  <dc:creator>91960</dc:creator>
  <cp:lastModifiedBy>Ganesh DG</cp:lastModifiedBy>
  <cp:revision>33</cp:revision>
  <dcterms:created xsi:type="dcterms:W3CDTF">2023-10-31T06:11:51Z</dcterms:created>
  <dcterms:modified xsi:type="dcterms:W3CDTF">2025-10-27T12:59:16Z</dcterms:modified>
</cp:coreProperties>
</file>